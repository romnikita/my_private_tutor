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2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55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02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14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0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5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02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913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61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09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462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3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506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95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108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868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41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75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063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926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2081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7102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659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2476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75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36304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8529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2081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92197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4715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723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80227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89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40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1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60172DF-4FF4-41F0-8F09-5DC90BE78228}" type="datetimeFigureOut">
              <a:rPr lang="ru-RU" smtClean="0"/>
              <a:t>29.09.2018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AAA875E3-30F2-48A7-9D49-C457CBA0CA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421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ndia.ru/text/category/professionalmznaya_deyatelmznostmz/" TargetMode="Externa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ndia.ru/text/category/gosudarstvennie_dolzhnosti/" TargetMode="Externa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ndia.ru/text/category/atomnaya_yenergetika/" TargetMode="External"/><Relationship Id="rId2" Type="http://schemas.openxmlformats.org/officeDocument/2006/relationships/hyperlink" Target="http://pandia.ru/text/category/gosudarstvennaya_korporatciya/" TargetMode="Externa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ndia.ru/text/category/grazhdanskaya_sluzhba/" TargetMode="Externa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pandia.ru/text/category/normi_prava/" TargetMode="Externa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ndia.ru/text/category/munitcipalmznie_obrazovaniya/" TargetMode="Externa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ndia.ru/text/category/tehnicheskie_zadaniya__obshaya_/" TargetMode="External"/><Relationship Id="rId2" Type="http://schemas.openxmlformats.org/officeDocument/2006/relationships/hyperlink" Target="http://www.pandia.ru/text/category/vidi_deyatelmznosti/" TargetMode="Externa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ndia.ru/text/category/bazi_dannih/" TargetMode="External"/><Relationship Id="rId2" Type="http://schemas.openxmlformats.org/officeDocument/2006/relationships/hyperlink" Target="http://pandia.ru/text/category/protokoli_zasedanij/" TargetMode="Externa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andia.ru/text/category/monitoring_deyatelmznosti/" TargetMode="Externa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sz="5400" b="1" dirty="0" smtClean="0">
                <a:solidFill>
                  <a:srgbClr val="FF0000"/>
                </a:solidFill>
              </a:rPr>
              <a:t>Антикоррупционный </a:t>
            </a:r>
            <a:br>
              <a:rPr lang="ru-RU" sz="5400" b="1" dirty="0" smtClean="0">
                <a:solidFill>
                  <a:srgbClr val="FF0000"/>
                </a:solidFill>
              </a:rPr>
            </a:br>
            <a:r>
              <a:rPr lang="ru-RU" sz="5400" b="1" dirty="0" smtClean="0">
                <a:solidFill>
                  <a:srgbClr val="FF0000"/>
                </a:solidFill>
              </a:rPr>
              <a:t>аудит</a:t>
            </a:r>
            <a:endParaRPr lang="ru-RU" sz="5400" b="1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778062"/>
            <a:ext cx="9144000" cy="4797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959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540913"/>
            <a:ext cx="10058400" cy="56312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smtClean="0"/>
              <a:t>Антикоррупционный аудит - </a:t>
            </a:r>
            <a:r>
              <a:rPr lang="ru-RU" sz="2400" dirty="0"/>
              <a:t>это система контроля за соблюдением антикоррупционных ограничений и выполнением антикоррупционных мер в конкретном учреждении, организации, органе государственной власти или органе местного </a:t>
            </a:r>
            <a:r>
              <a:rPr lang="ru-RU" sz="2400" dirty="0" smtClean="0"/>
              <a:t>самоуправления.</a:t>
            </a:r>
          </a:p>
          <a:p>
            <a:pPr marL="0" indent="0" algn="just">
              <a:buNone/>
            </a:pPr>
            <a:r>
              <a:rPr lang="ru-RU" sz="2400" dirty="0"/>
              <a:t>Ц</a:t>
            </a:r>
            <a:r>
              <a:rPr lang="ru-RU" sz="2400" dirty="0" smtClean="0"/>
              <a:t>елями </a:t>
            </a:r>
            <a:r>
              <a:rPr lang="ru-RU" sz="2400" dirty="0"/>
              <a:t>антикоррупционного аудита выступают: </a:t>
            </a:r>
            <a:endParaRPr lang="ru-RU" sz="2400" dirty="0" smtClean="0"/>
          </a:p>
          <a:p>
            <a:pPr marL="0" indent="0" algn="just">
              <a:buNone/>
            </a:pPr>
            <a:r>
              <a:rPr lang="ru-RU" sz="2400" dirty="0" smtClean="0"/>
              <a:t>а</a:t>
            </a:r>
            <a:r>
              <a:rPr lang="ru-RU" sz="2400" dirty="0"/>
              <a:t>) соблюдение антикоррупционных ограничений государственными или муниципальными служащими; </a:t>
            </a:r>
            <a:endParaRPr lang="ru-RU" sz="2400" dirty="0" smtClean="0"/>
          </a:p>
          <a:p>
            <a:pPr marL="0" indent="0" algn="just">
              <a:buNone/>
            </a:pPr>
            <a:r>
              <a:rPr lang="ru-RU" sz="2400" dirty="0" smtClean="0"/>
              <a:t>б</a:t>
            </a:r>
            <a:r>
              <a:rPr lang="ru-RU" sz="2400" dirty="0"/>
              <a:t>) исполнение антикоррупционных мер в конкретном учреждении, организации, органе государственной </a:t>
            </a:r>
            <a:r>
              <a:rPr lang="ru-RU" sz="2400" dirty="0" smtClean="0"/>
              <a:t>власти </a:t>
            </a:r>
            <a:r>
              <a:rPr lang="ru-RU" sz="2400" dirty="0"/>
              <a:t>или органе местного самоуправления.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10322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321972"/>
            <a:ext cx="10058400" cy="5850228"/>
          </a:xfrm>
        </p:spPr>
        <p:txBody>
          <a:bodyPr/>
          <a:lstStyle/>
          <a:p>
            <a:pPr marL="0" indent="0" algn="just" fontAlgn="base">
              <a:buNone/>
            </a:pPr>
            <a:r>
              <a:rPr lang="ru-RU" dirty="0" err="1" smtClean="0"/>
              <a:t>Ссистемы</a:t>
            </a:r>
            <a:r>
              <a:rPr lang="ru-RU" dirty="0" smtClean="0"/>
              <a:t> </a:t>
            </a:r>
            <a:r>
              <a:rPr lang="ru-RU" dirty="0"/>
              <a:t>антикоррупционного аудита как </a:t>
            </a:r>
            <a:r>
              <a:rPr lang="ru-RU" dirty="0">
                <a:hlinkClick r:id="rId2" tooltip="Профессиональная деятельность"/>
              </a:rPr>
              <a:t>профессиональной деятельности</a:t>
            </a:r>
            <a:r>
              <a:rPr lang="ru-RU" dirty="0"/>
              <a:t> являются:</a:t>
            </a:r>
          </a:p>
          <a:p>
            <a:pPr marL="0" indent="0" fontAlgn="base">
              <a:buNone/>
            </a:pPr>
            <a:r>
              <a:rPr lang="ru-RU" dirty="0"/>
              <a:t>- объект антикоррупционного аудита;</a:t>
            </a:r>
          </a:p>
          <a:p>
            <a:pPr marL="0" indent="0" fontAlgn="base">
              <a:buNone/>
            </a:pPr>
            <a:r>
              <a:rPr lang="ru-RU" dirty="0"/>
              <a:t>- предмет антикоррупционного аудита;</a:t>
            </a:r>
          </a:p>
          <a:p>
            <a:pPr marL="0" indent="0" fontAlgn="base">
              <a:buNone/>
            </a:pPr>
            <a:r>
              <a:rPr lang="ru-RU" dirty="0"/>
              <a:t>- основные цели и задачи антикоррупционного аудита;</a:t>
            </a:r>
          </a:p>
          <a:p>
            <a:pPr marL="0" indent="0" fontAlgn="base">
              <a:buNone/>
            </a:pPr>
            <a:r>
              <a:rPr lang="ru-RU" dirty="0"/>
              <a:t>- субъекты антикоррупционного аудита, обладающие правом его осуществления (организаторы, заказчики, исполнители - аудиторы);</a:t>
            </a:r>
          </a:p>
          <a:p>
            <a:pPr marL="0" indent="0">
              <a:buNone/>
            </a:pPr>
            <a:r>
              <a:rPr lang="ru-RU" dirty="0"/>
              <a:t>- средства антикоррупционного аудита.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102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321972"/>
            <a:ext cx="10058400" cy="585022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 smtClean="0"/>
              <a:t>Объектами в антикоррупционном аудите выступают</a:t>
            </a:r>
            <a:r>
              <a:rPr lang="ru-RU" dirty="0"/>
              <a:t>: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а</a:t>
            </a:r>
            <a:r>
              <a:rPr lang="ru-RU" dirty="0"/>
              <a:t>) федеральные органы государственной власти;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б</a:t>
            </a:r>
            <a:r>
              <a:rPr lang="ru-RU" dirty="0"/>
              <a:t>) органы государственной власти субъектов Российской Федерации;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в</a:t>
            </a:r>
            <a:r>
              <a:rPr lang="ru-RU" dirty="0"/>
              <a:t>) органы местного самоуправления;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г</a:t>
            </a:r>
            <a:r>
              <a:rPr lang="ru-RU" dirty="0"/>
              <a:t>) предприятия, организации и учреждения, осуществляющие в соответствии с законодательством отдельные публичные полномочия;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д</a:t>
            </a:r>
            <a:r>
              <a:rPr lang="ru-RU" dirty="0"/>
              <a:t>) отдельные должностные лица органов публичной власти (лица, замещающие </a:t>
            </a:r>
            <a:r>
              <a:rPr lang="ru-RU" dirty="0">
                <a:hlinkClick r:id="rId2" tooltip="Государственные должности"/>
              </a:rPr>
              <a:t>государственные должности</a:t>
            </a:r>
            <a:r>
              <a:rPr lang="ru-RU" dirty="0"/>
              <a:t>; лица, замещающие должности субъектов Российской Федерации; лица, замещающие муниципальные должности; государственные служащие; муниципальные служащие);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е</a:t>
            </a:r>
            <a:r>
              <a:rPr lang="ru-RU" dirty="0"/>
              <a:t>) руководители предприятий, организаций, учреждений, осуществляющих в соответствии с законодательством отдельные публичные полномочия.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Эти </a:t>
            </a:r>
            <a:r>
              <a:rPr lang="ru-RU" dirty="0"/>
              <a:t>объекты можно условно разделить на юридических и физических лиц, а указанные формы антикоррупционного аудита именовать соответственно корпоративным антикоррупционным аудитом и антикоррупционным аудитом персонала.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Объекты </a:t>
            </a:r>
            <a:r>
              <a:rPr lang="ru-RU" dirty="0"/>
              <a:t>антикоррупционного аудита выбираются организаторами различного уровня и даже закрепляются ими в рамках государственного планирования вопросов противодействия коррупции.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436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412124"/>
            <a:ext cx="10058400" cy="5760076"/>
          </a:xfrm>
        </p:spPr>
        <p:txBody>
          <a:bodyPr/>
          <a:lstStyle/>
          <a:p>
            <a:pPr marL="0" indent="0" algn="just" fontAlgn="base">
              <a:buNone/>
            </a:pPr>
            <a:r>
              <a:rPr lang="ru-RU" dirty="0"/>
              <a:t>Например, в качестве объектов антикоррупционного аудита Национальным планом противодействия коррупции на 2014 - 2015 годы определены:</a:t>
            </a:r>
          </a:p>
          <a:p>
            <a:pPr marL="0" indent="0" algn="just" fontAlgn="base">
              <a:buNone/>
            </a:pPr>
            <a:r>
              <a:rPr lang="ru-RU" dirty="0"/>
              <a:t>1) Федеральное агентство по управлению государственным имуществом;</a:t>
            </a:r>
          </a:p>
          <a:p>
            <a:pPr marL="0" indent="0" algn="just" fontAlgn="base">
              <a:buNone/>
            </a:pPr>
            <a:r>
              <a:rPr lang="ru-RU" dirty="0"/>
              <a:t>2) Федеральное агентство по делам Содружества Независимых Государств, соотечественников, проживающих за рубежом, и по международному гуманитарному сотрудничеству;</a:t>
            </a:r>
          </a:p>
          <a:p>
            <a:pPr marL="0" indent="0" algn="just" fontAlgn="base">
              <a:buNone/>
            </a:pPr>
            <a:r>
              <a:rPr lang="ru-RU" dirty="0"/>
              <a:t>3) </a:t>
            </a:r>
            <a:r>
              <a:rPr lang="ru-RU" dirty="0">
                <a:hlinkClick r:id="rId2" tooltip="Государственная корпорация"/>
              </a:rPr>
              <a:t>государственная корпорация</a:t>
            </a:r>
            <a:r>
              <a:rPr lang="ru-RU" dirty="0"/>
              <a:t> по </a:t>
            </a:r>
            <a:r>
              <a:rPr lang="ru-RU" dirty="0">
                <a:hlinkClick r:id="rId3" tooltip="Атомная энергетика"/>
              </a:rPr>
              <a:t>атомной энергии</a:t>
            </a:r>
            <a:r>
              <a:rPr lang="ru-RU" dirty="0"/>
              <a:t> "</a:t>
            </a:r>
            <a:r>
              <a:rPr lang="ru-RU" dirty="0" err="1"/>
              <a:t>Росатом</a:t>
            </a:r>
            <a:r>
              <a:rPr lang="ru-RU" dirty="0"/>
              <a:t>";</a:t>
            </a:r>
          </a:p>
          <a:p>
            <a:pPr marL="0" indent="0" algn="just" fontAlgn="base">
              <a:buNone/>
            </a:pPr>
            <a:r>
              <a:rPr lang="ru-RU" dirty="0"/>
              <a:t>4) органы государственной власти субъектов Российской </a:t>
            </a:r>
            <a:r>
              <a:rPr lang="ru-RU" dirty="0" smtClean="0"/>
              <a:t>Федерации.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6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296214"/>
            <a:ext cx="10058400" cy="587598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Предметом антикоррупционного аудита может выступать антикоррупционная деятельность указанных объектов. </a:t>
            </a:r>
            <a:endParaRPr lang="ru-RU" dirty="0" smtClean="0"/>
          </a:p>
          <a:p>
            <a:pPr marL="0" indent="0" algn="just">
              <a:buNone/>
            </a:pPr>
            <a:r>
              <a:rPr lang="ru-RU" i="1" dirty="0" smtClean="0"/>
              <a:t>Для </a:t>
            </a:r>
            <a:r>
              <a:rPr lang="ru-RU" i="1" dirty="0"/>
              <a:t>физических лиц </a:t>
            </a:r>
            <a:r>
              <a:rPr lang="ru-RU" dirty="0"/>
              <a:t>- соблюдение ими антикоррупционных запретов, ограничений и иных требований, предусмотренных законодательством о государственной </a:t>
            </a:r>
            <a:r>
              <a:rPr lang="ru-RU" dirty="0">
                <a:hlinkClick r:id="rId2" tooltip="Гражданская служба"/>
              </a:rPr>
              <a:t>гражданской службе</a:t>
            </a:r>
            <a:r>
              <a:rPr lang="ru-RU" dirty="0"/>
              <a:t>, о муниципальной службе и о противодействии коррупции, - "антикоррупционный аудит персонала". </a:t>
            </a:r>
            <a:endParaRPr lang="ru-RU" dirty="0" smtClean="0"/>
          </a:p>
          <a:p>
            <a:pPr marL="0" indent="0" algn="just">
              <a:buNone/>
            </a:pPr>
            <a:r>
              <a:rPr lang="ru-RU" i="1" dirty="0" smtClean="0"/>
              <a:t>Для </a:t>
            </a:r>
            <a:r>
              <a:rPr lang="ru-RU" i="1" dirty="0"/>
              <a:t>юридических лиц </a:t>
            </a:r>
            <a:r>
              <a:rPr lang="ru-RU" dirty="0"/>
              <a:t>- организация системы противодействия коррупции, а также отдельных механизмов ее осуществления (антикоррупционного мониторинга, антикоррупционного образования, антикоррупционного просвещения, антикоррупционного планирования, антикоррупционной экспертизы, антикоррупционной пропаганды, в том числе антикоррупционной рекламы) или отдельных направлений деятельности (правового регулирования противодействия коррупции, взаимодействия в сфере противодействия коррупции) - "корпоративный антикоррупционный аудит".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559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412124"/>
            <a:ext cx="10058400" cy="576007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/>
              <a:t>С </a:t>
            </a:r>
            <a:r>
              <a:rPr lang="ru-RU" dirty="0"/>
              <a:t>учетом специфики объекта антикоррупционного аудита перед ним инициаторами и/или организаторами могут ставиться и различные цели.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Основной </a:t>
            </a:r>
            <a:r>
              <a:rPr lang="ru-RU" dirty="0"/>
              <a:t>целью антикоррупционного аудита персонала является проверка соблюдения физическими лицами антикоррупционных запретов, ограничений и иных требований, предусмотренных законодательством о государственной гражданской службе, о муниципальной службе и о противодействии коррупции.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Здесь </a:t>
            </a:r>
            <a:r>
              <a:rPr lang="ru-RU" dirty="0"/>
              <a:t>задачами антикоррупционного аудита персонала могут выступать: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а</a:t>
            </a:r>
            <a:r>
              <a:rPr lang="ru-RU" dirty="0"/>
              <a:t>) соблюдение государственными (муниципальными) служащими и иными лицами антикоррупционных ограничений;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б</a:t>
            </a:r>
            <a:r>
              <a:rPr lang="ru-RU" dirty="0"/>
              <a:t>) соблюдение государственными (муниципальными) служащими и иными лицами антикоррупционных запретов;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в</a:t>
            </a:r>
            <a:r>
              <a:rPr lang="ru-RU" dirty="0"/>
              <a:t>) соблюдение государственными (муниципальными) служащими и иными лицами антикоррупционных обязанностей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41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515155"/>
            <a:ext cx="10058400" cy="5657045"/>
          </a:xfrm>
        </p:spPr>
        <p:txBody>
          <a:bodyPr>
            <a:normAutofit fontScale="92500" lnSpcReduction="10000"/>
          </a:bodyPr>
          <a:lstStyle/>
          <a:p>
            <a:pPr marL="0" indent="0" algn="just" fontAlgn="base">
              <a:buNone/>
            </a:pPr>
            <a:r>
              <a:rPr lang="ru-RU" dirty="0"/>
              <a:t>Основными целями корпоративного антикоррупционного аудита могут выступать:</a:t>
            </a:r>
          </a:p>
          <a:p>
            <a:pPr marL="0" indent="0" algn="just" fontAlgn="base">
              <a:buNone/>
            </a:pPr>
            <a:r>
              <a:rPr lang="ru-RU" dirty="0"/>
              <a:t>а) проверка и оценка системы противодействия коррупции в органе государственной власти или органе местного самоуправления либо в организациях, предприятиях и учреждениях, осуществляющих в соответствии с законодательством отдельные публичные </a:t>
            </a:r>
            <a:r>
              <a:rPr lang="ru-RU" dirty="0" smtClean="0"/>
              <a:t>полномочия, </a:t>
            </a:r>
            <a:r>
              <a:rPr lang="ru-RU" dirty="0"/>
              <a:t>и выработка предложений по ее совершению;</a:t>
            </a:r>
          </a:p>
          <a:p>
            <a:pPr marL="0" indent="0" algn="just" fontAlgn="base">
              <a:buNone/>
            </a:pPr>
            <a:r>
              <a:rPr lang="ru-RU" dirty="0"/>
              <a:t>б) проверка и оценка исполнения отдельных направлений антикоррупционной деятельности (правового регулирования; исполнения антикоррупционного законодательства) по отдельным показателям и выработка предложений по их совершению;</a:t>
            </a:r>
          </a:p>
          <a:p>
            <a:pPr marL="0" indent="0" algn="just" fontAlgn="base">
              <a:buNone/>
            </a:pPr>
            <a:r>
              <a:rPr lang="ru-RU" dirty="0"/>
              <a:t>в) проверка и оценка использования отдельных инструментов противодействия коррупции (антикоррупционных </a:t>
            </a:r>
            <a:r>
              <a:rPr lang="ru-RU" dirty="0" smtClean="0"/>
              <a:t>программ), </a:t>
            </a:r>
            <a:r>
              <a:rPr lang="ru-RU" dirty="0"/>
              <a:t>антикоррупционной экспертизы </a:t>
            </a:r>
            <a:r>
              <a:rPr lang="ru-RU" dirty="0">
                <a:hlinkClick r:id="rId2" tooltip="Нормы права"/>
              </a:rPr>
              <a:t>нормативных правовых</a:t>
            </a:r>
            <a:r>
              <a:rPr lang="ru-RU" dirty="0"/>
              <a:t> актов и проектов нормативных правовых актов, антикоррупционного образования, антикоррупционного просвещения, антикоррупционной пропаганды) и выработка предложений по повышению их эффективности;</a:t>
            </a:r>
          </a:p>
          <a:p>
            <a:pPr marL="0" indent="0" algn="just" fontAlgn="base">
              <a:buNone/>
            </a:pPr>
            <a:r>
              <a:rPr lang="ru-RU" dirty="0"/>
              <a:t>г) проверка и оценка деятельности субъектов противодействия коррупции (уполномоченных на противодействие коррупции органов и лиц; советов (комиссии) по противодействию коррупции; комиссии по соблюдению требований к служебному поведению государственных (муниципальных) служащих и урегулированию конфликта интересов) и выработка предложений по совершению их антикоррупционной деятельности.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475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40913" y="296213"/>
            <a:ext cx="10869769" cy="602731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dirty="0"/>
              <a:t>Субъектами антикоррупционного аудита выступают различные группы участников</a:t>
            </a:r>
            <a:r>
              <a:rPr lang="ru-RU" dirty="0" smtClean="0"/>
              <a:t>:</a:t>
            </a:r>
          </a:p>
          <a:p>
            <a:pPr algn="just"/>
            <a:r>
              <a:rPr lang="ru-RU" dirty="0" smtClean="0"/>
              <a:t>инициаторы; </a:t>
            </a:r>
          </a:p>
          <a:p>
            <a:pPr algn="just"/>
            <a:r>
              <a:rPr lang="ru-RU" dirty="0" smtClean="0"/>
              <a:t>организаторы;</a:t>
            </a:r>
          </a:p>
          <a:p>
            <a:pPr algn="just"/>
            <a:r>
              <a:rPr lang="ru-RU" dirty="0"/>
              <a:t>з</a:t>
            </a:r>
            <a:r>
              <a:rPr lang="ru-RU" dirty="0" smtClean="0"/>
              <a:t>аказчики;</a:t>
            </a:r>
          </a:p>
          <a:p>
            <a:pPr algn="just"/>
            <a:r>
              <a:rPr lang="ru-RU" dirty="0" smtClean="0"/>
              <a:t>исполнители</a:t>
            </a:r>
            <a:r>
              <a:rPr lang="ru-RU" dirty="0"/>
              <a:t>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Как </a:t>
            </a:r>
            <a:r>
              <a:rPr lang="ru-RU" dirty="0"/>
              <a:t>показывает практика противодействия коррупции в современной России, инициаторами антикоррупционного аудита могут выступать различные субъекты противодействия коррупции.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одних случаях инициирует антикоррупционный аудит организации работы по профилактике коррупции в федеральных и региональных органах государственной власти, государственных учреждениях и предприятиях высшее должностное лицо российского государства - Президент Российской Федерации, определяя календарные сроки осуществления и исполнителей аудиторской </a:t>
            </a:r>
            <a:r>
              <a:rPr lang="ru-RU" dirty="0" smtClean="0"/>
              <a:t>деятельности. </a:t>
            </a:r>
          </a:p>
          <a:p>
            <a:pPr marL="0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других случаях - глава субъекта Российской </a:t>
            </a:r>
            <a:r>
              <a:rPr lang="ru-RU" dirty="0" smtClean="0"/>
              <a:t>Федерации, </a:t>
            </a:r>
            <a:r>
              <a:rPr lang="ru-RU" dirty="0"/>
              <a:t>руководитель органа государственной </a:t>
            </a:r>
            <a:r>
              <a:rPr lang="ru-RU" dirty="0" smtClean="0"/>
              <a:t>власти, </a:t>
            </a:r>
            <a:r>
              <a:rPr lang="ru-RU" dirty="0"/>
              <a:t>руководитель </a:t>
            </a:r>
            <a:r>
              <a:rPr lang="ru-RU" dirty="0">
                <a:hlinkClick r:id="rId2" tooltip="Муниципальные образования"/>
              </a:rPr>
              <a:t>муниципального образования</a:t>
            </a:r>
            <a:r>
              <a:rPr lang="ru-RU" dirty="0"/>
              <a:t> или органа местного самоуправления </a:t>
            </a:r>
            <a:r>
              <a:rPr lang="ru-RU" dirty="0" smtClean="0"/>
              <a:t>или </a:t>
            </a:r>
            <a:r>
              <a:rPr lang="ru-RU" dirty="0"/>
              <a:t>руководитель хозяйствующего субъекта.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В </a:t>
            </a:r>
            <a:r>
              <a:rPr lang="ru-RU" dirty="0"/>
              <a:t>отдельных случаях инициатором антикоррупционного аудита выступают органы прокуратуры Российской Федерации, как правило, они рекомендуют органам государственной власти, органам местного самоуправления и руководителям иных организаций и учреждений осуществление внутреннего антикоррупционного аудита персонала.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763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6975" y="373487"/>
            <a:ext cx="10573555" cy="60530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Как показывает анализ региональных нормативных правовых актов, исполнителями антикоррупционного аудита, как правило, назначаются уполномоченные специализированные органы по вопросам противодействия коррупции - управления (отделы, комитеты и т. д.) по вопросам противодействия коррупции при осуществлении корпоративного антикоррупционного аудита </a:t>
            </a:r>
            <a:r>
              <a:rPr lang="ru-RU" dirty="0" smtClean="0"/>
              <a:t>либо </a:t>
            </a:r>
            <a:r>
              <a:rPr lang="ru-RU" dirty="0"/>
              <a:t>специально созданные для этих целей межведомственные рабочие или экспертные </a:t>
            </a:r>
            <a:r>
              <a:rPr lang="ru-RU" dirty="0" smtClean="0"/>
              <a:t>группы. </a:t>
            </a:r>
          </a:p>
          <a:p>
            <a:pPr marL="0" indent="0" algn="just">
              <a:buNone/>
            </a:pPr>
            <a:r>
              <a:rPr lang="ru-RU" dirty="0" smtClean="0"/>
              <a:t>Вместе </a:t>
            </a:r>
            <a:r>
              <a:rPr lang="ru-RU" dirty="0"/>
              <a:t>с тем при осуществлении антикоррупционного аудита персонала организаторами и исполнителями этого </a:t>
            </a:r>
            <a:r>
              <a:rPr lang="ru-RU" dirty="0">
                <a:hlinkClick r:id="rId2" tooltip="Виды деятельности"/>
              </a:rPr>
              <a:t>вида деятельности</a:t>
            </a:r>
            <a:r>
              <a:rPr lang="ru-RU" dirty="0"/>
              <a:t> могут выступать подразделения (сотрудники) кадровых служб по профилактике коррупционных или иных </a:t>
            </a:r>
            <a:r>
              <a:rPr lang="ru-RU" dirty="0" smtClean="0"/>
              <a:t>правонарушений. </a:t>
            </a:r>
          </a:p>
          <a:p>
            <a:pPr marL="0" indent="0" algn="just">
              <a:buNone/>
            </a:pPr>
            <a:r>
              <a:rPr lang="ru-RU" dirty="0" smtClean="0"/>
              <a:t>Следовательно</a:t>
            </a:r>
            <a:r>
              <a:rPr lang="ru-RU" dirty="0"/>
              <a:t>, субъектами антикоррупционного аудита могут выступать аудиторы и аудиторские группы, которые осуществляют проверку исполнения антикоррупционного законодательства в соответствии с нормативными предписаниями, как правило, такими предписаниями могут быть </a:t>
            </a:r>
            <a:r>
              <a:rPr lang="ru-RU" dirty="0">
                <a:hlinkClick r:id="rId3" tooltip="Технические задания (общая)"/>
              </a:rPr>
              <a:t>технические задания</a:t>
            </a:r>
            <a:r>
              <a:rPr lang="ru-RU" dirty="0"/>
              <a:t> (планы проверки) на осуществление антикоррупционного аудита, утвержденные его инициатором.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По </a:t>
            </a:r>
            <a:r>
              <a:rPr lang="ru-RU" dirty="0"/>
              <a:t>результатам проведенного корпоративного антикоррупционного аудита аудиторами составляется заключение, а по результатам антикоррупционного аудита персонала могут составляться иные документы, предусмотренные действующим антикоррупционным законодательством (доклад, справка, представление, акт и др.).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157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296214"/>
            <a:ext cx="10058400" cy="58759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В качестве основных средств антикоррупционного аудита выступают осуществление анализа имеющихся в органе государственной власти, органе местного самоуправления организации, учреждении документов (антикоррупционных программ (планов); </a:t>
            </a:r>
            <a:r>
              <a:rPr lang="ru-RU" dirty="0" smtClean="0"/>
              <a:t>нормативных </a:t>
            </a:r>
            <a:r>
              <a:rPr lang="ru-RU" dirty="0"/>
              <a:t>правовых актов; документов реализации антикоррупционного законодательства: </a:t>
            </a:r>
            <a:r>
              <a:rPr lang="ru-RU" dirty="0" smtClean="0"/>
              <a:t>заключении </a:t>
            </a:r>
            <a:r>
              <a:rPr lang="ru-RU" dirty="0"/>
              <a:t>по результатам проведения антикоррупционной экспертизы, </a:t>
            </a:r>
            <a:r>
              <a:rPr lang="ru-RU" dirty="0" smtClean="0"/>
              <a:t>отчетов</a:t>
            </a:r>
            <a:r>
              <a:rPr lang="ru-RU" dirty="0"/>
              <a:t>, </a:t>
            </a:r>
            <a:r>
              <a:rPr lang="ru-RU" dirty="0" smtClean="0"/>
              <a:t>докладов</a:t>
            </a:r>
            <a:r>
              <a:rPr lang="ru-RU" dirty="0"/>
              <a:t>, </a:t>
            </a:r>
            <a:r>
              <a:rPr lang="ru-RU" dirty="0" smtClean="0"/>
              <a:t>анкет</a:t>
            </a:r>
            <a:r>
              <a:rPr lang="ru-RU" dirty="0"/>
              <a:t>, </a:t>
            </a:r>
            <a:r>
              <a:rPr lang="ru-RU" dirty="0" smtClean="0">
                <a:hlinkClick r:id="rId2" tooltip="Протоколы заседаний"/>
              </a:rPr>
              <a:t>протоколов </a:t>
            </a:r>
            <a:r>
              <a:rPr lang="ru-RU" dirty="0" err="1">
                <a:hlinkClick r:id="rId2" tooltip="Протоколы заседаний"/>
              </a:rPr>
              <a:t>заседаний</a:t>
            </a:r>
            <a:r>
              <a:rPr lang="ru-RU" dirty="0" err="1"/>
              <a:t>комиссий</a:t>
            </a:r>
            <a:r>
              <a:rPr lang="ru-RU" dirty="0"/>
              <a:t> (советов); компьютерных </a:t>
            </a:r>
            <a:r>
              <a:rPr lang="ru-RU" dirty="0">
                <a:hlinkClick r:id="rId3" tooltip="Базы данных"/>
              </a:rPr>
              <a:t>баз данных</a:t>
            </a:r>
            <a:r>
              <a:rPr lang="ru-RU" dirty="0"/>
              <a:t> и веб-сайтов).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Проверка </a:t>
            </a:r>
            <a:r>
              <a:rPr lang="ru-RU" dirty="0"/>
              <a:t>условии, способствующих созданию системы противодействия коррупции, - наличие уполномоченных органов и должностных лиц; наличие документов, наделяющих их подобными полномочиями; наличие документов, подтверждающих их профессиональную квалификацию по вопросам противодействия коррупции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 smtClean="0"/>
              <a:t>Безусловно</a:t>
            </a:r>
            <a:r>
              <a:rPr lang="ru-RU" dirty="0"/>
              <a:t>, обязательным средством антикоррупционного аудита является опрос персонала по вопросам противодействия коррупции, а также потребителей государственных услуг - по их качеству и доступности.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924528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848" y="347730"/>
            <a:ext cx="10058400" cy="582447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Важнейшим средством антикоррупционного аудита может быть признано наблюдение за деятельностью лиц, уполномоченных на противодействие коррупции - участие их в производстве антикоррупционной экспертизы нормативных правовых актов и проектов нормативных правовых актов, антикоррупционном просвещении, организации антикоррупционного планирования и антикоррупционного образования, а также их участие в деятельности совещательных, консультативных ли координационных антикоррупционных органов. </a:t>
            </a:r>
          </a:p>
          <a:p>
            <a:pPr marL="0" indent="0" algn="just">
              <a:buNone/>
            </a:pPr>
            <a:r>
              <a:rPr lang="ru-RU" dirty="0"/>
              <a:t>В качестве надежного дополняющего средства государственного и/или общественного контроля за антикоррупционной деятельностью и качеством антикоррупционного аудита может выступать антикоррупционный </a:t>
            </a:r>
            <a:r>
              <a:rPr lang="ru-RU" dirty="0">
                <a:hlinkClick r:id="rId2" tooltip="Мониторинг деятельности"/>
              </a:rPr>
              <a:t>мониторинг деятельности</a:t>
            </a:r>
            <a:r>
              <a:rPr lang="ru-RU" dirty="0"/>
              <a:t> органов государственной власти, органов местного самоуправления и иных организаций и учреждений, а также правовая и антикоррупционная экспертиза действующих нормативных правовых актов. </a:t>
            </a:r>
            <a:endParaRPr lang="ru-RU" dirty="0" smtClean="0"/>
          </a:p>
          <a:p>
            <a:pPr marL="0" indent="0" algn="just">
              <a:buNone/>
            </a:pPr>
            <a:r>
              <a:rPr lang="ru-RU" dirty="0" smtClean="0"/>
              <a:t>Такими </a:t>
            </a:r>
            <a:r>
              <a:rPr lang="ru-RU" dirty="0"/>
              <a:t>средствами могут выступать и иные средства, предусмотренные законодательством о государственном (муниципальном) и общественном </a:t>
            </a:r>
            <a:r>
              <a:rPr lang="ru-RU" dirty="0" smtClean="0"/>
              <a:t>контроле.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2006642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DOfficeLightV0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Дерево">
  <a:themeElements>
    <a:clrScheme name="Дерево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ерево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Дерево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4A44574EBC2D7443B8CFA5BEDD172E04" ma:contentTypeVersion="0" ma:contentTypeDescription="Создание документа." ma:contentTypeScope="" ma:versionID="b803ef854b46318adc0a52dda06115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2f955febea7e716b4e91cddba17110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705017B-E3BA-4E96-93B0-132C069655CE}"/>
</file>

<file path=customXml/itemProps2.xml><?xml version="1.0" encoding="utf-8"?>
<ds:datastoreItem xmlns:ds="http://schemas.openxmlformats.org/officeDocument/2006/customXml" ds:itemID="{348CD139-74FD-4A1F-A316-E6FB4DF59EAD}"/>
</file>

<file path=customXml/itemProps3.xml><?xml version="1.0" encoding="utf-8"?>
<ds:datastoreItem xmlns:ds="http://schemas.openxmlformats.org/officeDocument/2006/customXml" ds:itemID="{0F6226A6-20C2-476E-A58B-EF9A9480F191}"/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TM02900688[[fn=Аспект]]</Template>
  <TotalTime>71</TotalTime>
  <Words>659</Words>
  <Application>Microsoft Office PowerPoint</Application>
  <PresentationFormat>Широкоэкранный</PresentationFormat>
  <Paragraphs>58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22" baseType="lpstr">
      <vt:lpstr>Calibri</vt:lpstr>
      <vt:lpstr>Calibri Light</vt:lpstr>
      <vt:lpstr>Cambria</vt:lpstr>
      <vt:lpstr>Rockwell</vt:lpstr>
      <vt:lpstr>Rockwell Condensed</vt:lpstr>
      <vt:lpstr>Wingdings</vt:lpstr>
      <vt:lpstr>Wingdings 2</vt:lpstr>
      <vt:lpstr>HDOfficeLightV0</vt:lpstr>
      <vt:lpstr>1_HDOfficeLightV0</vt:lpstr>
      <vt:lpstr>Дерево</vt:lpstr>
      <vt:lpstr>Антикоррупционный  аудит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Анжелика Гендон</dc:creator>
  <cp:lastModifiedBy>Анжелика Гендон</cp:lastModifiedBy>
  <cp:revision>7</cp:revision>
  <dcterms:created xsi:type="dcterms:W3CDTF">2018-09-29T16:50:55Z</dcterms:created>
  <dcterms:modified xsi:type="dcterms:W3CDTF">2018-09-29T18:02:30Z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0x0101004A44574EBC2D7443B8CFA5BEDD172E04</vt:lpwstr>
  </property>
</Properties>
</file>